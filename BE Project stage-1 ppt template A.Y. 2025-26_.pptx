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8288000" cy="10287000"/>
  <p:notesSz cx="6858000" cy="9144000"/>
  <p:embeddedFontLst>
    <p:embeddedFont>
      <p:font typeface="Calibri (MS)" panose="020B0604020202020204" charset="0"/>
      <p:regular r:id="rId24"/>
    </p:embeddedFont>
    <p:embeddedFont>
      <p:font typeface="Cambria" panose="02040503050406030204" pitchFamily="18" charset="0"/>
      <p:regular r:id="rId25"/>
      <p:bold r:id="rId26"/>
      <p:italic r:id="rId27"/>
      <p:boldItalic r:id="rId28"/>
    </p:embeddedFont>
    <p:embeddedFont>
      <p:font typeface="Cambria Bold" panose="02040803050406030204" pitchFamily="18" charset="0"/>
      <p:regular r:id="rId29"/>
      <p:bold r:id="rId30"/>
    </p:embeddedFont>
    <p:embeddedFont>
      <p:font typeface="Poppins" panose="00000500000000000000" pitchFamily="2" charset="0"/>
      <p:regular r:id="rId31"/>
    </p:embeddedFont>
    <p:embeddedFont>
      <p:font typeface="Poppins Bold" panose="020B0604020202020204" charset="0"/>
      <p:regular r:id="rId32"/>
    </p:embeddedFont>
    <p:embeddedFont>
      <p:font typeface="Times New Roman Bold" panose="02020803070505020304" pitchFamily="18" charset="0"/>
      <p:regular r:id="rId33"/>
      <p:bold r:id="rId34"/>
    </p:embeddedFont>
    <p:embeddedFont>
      <p:font typeface="Trebuchet MS Bold" panose="020B0703020202020204" pitchFamily="34" charset="0"/>
      <p:regular r:id="rId35"/>
      <p:bold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606.08272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i.org/10.70062/slrj.v2i1.277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jirt.org/publishedpaper/IJIRT201405_PAPER.pdf" TargetMode="External"/><Relationship Id="rId11" Type="http://schemas.openxmlformats.org/officeDocument/2006/relationships/hyperlink" Target="https://www.preprints.org/manuscript/202406.1999" TargetMode="External"/><Relationship Id="rId5" Type="http://schemas.openxmlformats.org/officeDocument/2006/relationships/hyperlink" Target="https://www.ijfmr.com/papers/2026/3/79624.pdf" TargetMode="External"/><Relationship Id="rId10" Type="http://schemas.openxmlformats.org/officeDocument/2006/relationships/hyperlink" Target="https://doi.org/10.30574/ijsra.2024.13.1.1747" TargetMode="External"/><Relationship Id="rId4" Type="http://schemas.openxmlformats.org/officeDocument/2006/relationships/image" Target="../media/image3.jpeg"/><Relationship Id="rId9" Type="http://schemas.openxmlformats.org/officeDocument/2006/relationships/hyperlink" Target="https://doi.org/10.1109/ICIMIA67127.2025.11200536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63379" y="314773"/>
            <a:ext cx="9271702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821981" y="1020480"/>
            <a:ext cx="12643161" cy="1017375"/>
            <a:chOff x="0" y="0"/>
            <a:chExt cx="16857548" cy="1356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57554" cy="1356506"/>
            </a:xfrm>
            <a:custGeom>
              <a:avLst/>
              <a:gdLst/>
              <a:ahLst/>
              <a:cxnLst/>
              <a:rect l="l" t="t" r="r" b="b"/>
              <a:pathLst>
                <a:path w="16857554" h="1356506">
                  <a:moveTo>
                    <a:pt x="0" y="0"/>
                  </a:moveTo>
                  <a:lnTo>
                    <a:pt x="16857554" y="0"/>
                  </a:lnTo>
                  <a:lnTo>
                    <a:pt x="16857554" y="1356506"/>
                  </a:lnTo>
                  <a:lnTo>
                    <a:pt x="0" y="135650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2144" b="-192143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16857548" cy="1327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88"/>
                </a:lnSpc>
              </a:pPr>
              <a:r>
                <a:rPr lang="en-US" sz="36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34969" y="113071"/>
            <a:ext cx="2635129" cy="1283532"/>
            <a:chOff x="0" y="0"/>
            <a:chExt cx="3513506" cy="171137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513455" cy="1711325"/>
            </a:xfrm>
            <a:custGeom>
              <a:avLst/>
              <a:gdLst/>
              <a:ahLst/>
              <a:cxnLst/>
              <a:rect l="l" t="t" r="r" b="b"/>
              <a:pathLst>
                <a:path w="3513455" h="1711325">
                  <a:moveTo>
                    <a:pt x="0" y="0"/>
                  </a:moveTo>
                  <a:lnTo>
                    <a:pt x="3513455" y="0"/>
                  </a:lnTo>
                  <a:lnTo>
                    <a:pt x="3513455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 b="-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5364025" y="168897"/>
            <a:ext cx="2638558" cy="1285199"/>
            <a:chOff x="0" y="0"/>
            <a:chExt cx="3518078" cy="1713598"/>
          </a:xfrm>
        </p:grpSpPr>
        <p:sp>
          <p:nvSpPr>
            <p:cNvPr id="9" name="Freeform 9" descr="PCET Trust Logo"/>
            <p:cNvSpPr/>
            <p:nvPr/>
          </p:nvSpPr>
          <p:spPr>
            <a:xfrm>
              <a:off x="0" y="0"/>
              <a:ext cx="3518027" cy="1713611"/>
            </a:xfrm>
            <a:custGeom>
              <a:avLst/>
              <a:gdLst/>
              <a:ahLst/>
              <a:cxnLst/>
              <a:rect l="l" t="t" r="r" b="b"/>
              <a:pathLst>
                <a:path w="3518027" h="1713611">
                  <a:moveTo>
                    <a:pt x="0" y="0"/>
                  </a:moveTo>
                  <a:lnTo>
                    <a:pt x="3518027" y="0"/>
                  </a:lnTo>
                  <a:lnTo>
                    <a:pt x="3518027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79540" y="3341075"/>
            <a:ext cx="17723034" cy="5388235"/>
            <a:chOff x="0" y="0"/>
            <a:chExt cx="23630712" cy="71843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630762" cy="7184263"/>
            </a:xfrm>
            <a:custGeom>
              <a:avLst/>
              <a:gdLst/>
              <a:ahLst/>
              <a:cxnLst/>
              <a:rect l="l" t="t" r="r" b="b"/>
              <a:pathLst>
                <a:path w="23630762" h="7184263">
                  <a:moveTo>
                    <a:pt x="0" y="0"/>
                  </a:moveTo>
                  <a:lnTo>
                    <a:pt x="23630762" y="0"/>
                  </a:lnTo>
                  <a:lnTo>
                    <a:pt x="23630762" y="7184263"/>
                  </a:lnTo>
                  <a:lnTo>
                    <a:pt x="0" y="71842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7917" b="-4710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3" y="9527619"/>
            <a:ext cx="15925800" cy="759381"/>
            <a:chOff x="0" y="0"/>
            <a:chExt cx="21234400" cy="101250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34400" cy="1012571"/>
            </a:xfrm>
            <a:custGeom>
              <a:avLst/>
              <a:gdLst/>
              <a:ahLst/>
              <a:cxnLst/>
              <a:rect l="l" t="t" r="r" b="b"/>
              <a:pathLst>
                <a:path w="21234400" h="1012571">
                  <a:moveTo>
                    <a:pt x="21234400" y="1012571"/>
                  </a:moveTo>
                  <a:lnTo>
                    <a:pt x="19969862" y="0"/>
                  </a:lnTo>
                  <a:lnTo>
                    <a:pt x="0" y="52070"/>
                  </a:lnTo>
                  <a:lnTo>
                    <a:pt x="17399" y="1012571"/>
                  </a:lnTo>
                  <a:lnTo>
                    <a:pt x="21234400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3797"/>
            </a:gradFill>
          </p:spPr>
        </p:sp>
      </p:grpSp>
      <p:sp>
        <p:nvSpPr>
          <p:cNvPr id="14" name="TextBox 14"/>
          <p:cNvSpPr txBox="1"/>
          <p:nvPr/>
        </p:nvSpPr>
        <p:spPr>
          <a:xfrm>
            <a:off x="370980" y="9666503"/>
            <a:ext cx="8681142" cy="472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Academic Year 2026-27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471284" y="8755980"/>
            <a:ext cx="8055912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1">
                <a:solidFill>
                  <a:srgbClr val="FF0000"/>
                </a:solidFill>
                <a:latin typeface="Cambria Bold"/>
                <a:ea typeface="Cambria Bold"/>
                <a:cs typeface="Cambria Bold"/>
                <a:sym typeface="Cambria Bold"/>
              </a:rPr>
              <a:t>SPPU Project Work Stage – I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5708" y="2092966"/>
            <a:ext cx="9689373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4200" b="1">
                <a:solidFill>
                  <a:srgbClr val="FF0000"/>
                </a:solidFill>
                <a:latin typeface="Cambria Bold"/>
                <a:ea typeface="Cambria Bold"/>
                <a:cs typeface="Cambria Bold"/>
                <a:sym typeface="Cambria Bold"/>
              </a:rPr>
              <a:t>Department of Information Technology </a:t>
            </a:r>
          </a:p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2E75B6"/>
                </a:solidFill>
                <a:latin typeface="Cambria Bold"/>
                <a:ea typeface="Cambria Bold"/>
                <a:cs typeface="Cambria Bold"/>
                <a:sym typeface="Cambria Bold"/>
              </a:rPr>
              <a:t>NAAC &amp; NBA Accredited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99470"/>
            <a:chOff x="0" y="0"/>
            <a:chExt cx="24409400" cy="1326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32588"/>
            </a:xfrm>
            <a:custGeom>
              <a:avLst/>
              <a:gdLst/>
              <a:ahLst/>
              <a:cxnLst/>
              <a:rect l="l" t="t" r="r" b="b"/>
              <a:pathLst>
                <a:path w="24409400" h="132588">
                  <a:moveTo>
                    <a:pt x="0" y="22098"/>
                  </a:moveTo>
                  <a:cubicBezTo>
                    <a:pt x="0" y="9906"/>
                    <a:pt x="9906" y="0"/>
                    <a:pt x="22098" y="0"/>
                  </a:cubicBezTo>
                  <a:lnTo>
                    <a:pt x="24387302" y="0"/>
                  </a:lnTo>
                  <a:cubicBezTo>
                    <a:pt x="24399494" y="0"/>
                    <a:pt x="24409400" y="9906"/>
                    <a:pt x="24409400" y="22098"/>
                  </a:cubicBezTo>
                  <a:lnTo>
                    <a:pt x="24409400" y="110490"/>
                  </a:lnTo>
                  <a:cubicBezTo>
                    <a:pt x="24409400" y="122682"/>
                    <a:pt x="24399494" y="132588"/>
                    <a:pt x="24387302" y="132588"/>
                  </a:cubicBezTo>
                  <a:lnTo>
                    <a:pt x="22098" y="132588"/>
                  </a:lnTo>
                  <a:cubicBezTo>
                    <a:pt x="9906" y="132588"/>
                    <a:pt x="0" y="122682"/>
                    <a:pt x="0" y="11049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4" y="9527619"/>
            <a:ext cx="15921352" cy="759381"/>
            <a:chOff x="0" y="0"/>
            <a:chExt cx="21228469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28431" cy="1012571"/>
            </a:xfrm>
            <a:custGeom>
              <a:avLst/>
              <a:gdLst/>
              <a:ahLst/>
              <a:cxnLst/>
              <a:rect l="l" t="t" r="r" b="b"/>
              <a:pathLst>
                <a:path w="21228431" h="1012571">
                  <a:moveTo>
                    <a:pt x="21228431" y="1012571"/>
                  </a:moveTo>
                  <a:lnTo>
                    <a:pt x="19964273" y="0"/>
                  </a:lnTo>
                  <a:lnTo>
                    <a:pt x="0" y="52070"/>
                  </a:lnTo>
                  <a:lnTo>
                    <a:pt x="17399" y="1012571"/>
                  </a:lnTo>
                  <a:lnTo>
                    <a:pt x="21228431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3842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3135973" y="1646777"/>
            <a:ext cx="12016045" cy="7086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sz="24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</a:t>
            </a:r>
          </a:p>
          <a:p>
            <a:pPr algn="ctr">
              <a:lnSpc>
                <a:spcPts val="2361"/>
              </a:lnSpc>
            </a:pPr>
            <a:r>
              <a:rPr lang="en-US" sz="24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Project Review </a:t>
            </a:r>
          </a:p>
          <a:p>
            <a:pPr algn="ctr">
              <a:lnSpc>
                <a:spcPts val="2361"/>
              </a:lnSpc>
            </a:pPr>
            <a:r>
              <a:rPr lang="en-US" sz="242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</a:t>
            </a:r>
          </a:p>
          <a:p>
            <a:pPr algn="ctr">
              <a:lnSpc>
                <a:spcPts val="2361"/>
              </a:lnSpc>
            </a:pPr>
            <a:endParaRPr lang="en-US" sz="242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3149"/>
              </a:lnSpc>
            </a:pPr>
            <a:r>
              <a:rPr lang="en-US" sz="324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“A RAG-Based Multilingual AI Assistant for Government Scheme Discovery and Application Assistance”</a:t>
            </a:r>
          </a:p>
          <a:p>
            <a:pPr algn="ctr">
              <a:lnSpc>
                <a:spcPts val="2755"/>
              </a:lnSpc>
            </a:pPr>
            <a:endParaRPr lang="en-US" sz="324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2755"/>
              </a:lnSpc>
            </a:pPr>
            <a:r>
              <a:rPr lang="en-US" sz="2835">
                <a:solidFill>
                  <a:srgbClr val="20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Prepared By</a:t>
            </a:r>
          </a:p>
          <a:p>
            <a:pPr algn="ctr">
              <a:lnSpc>
                <a:spcPts val="2755"/>
              </a:lnSpc>
            </a:pPr>
            <a:endParaRPr lang="en-US" sz="2835">
              <a:solidFill>
                <a:srgbClr val="20386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755"/>
              </a:lnSpc>
            </a:pPr>
            <a:r>
              <a:rPr lang="en-US" sz="2835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Sandesh Ashok Shingankar                    BEIT60</a:t>
            </a:r>
          </a:p>
          <a:p>
            <a:pPr algn="ctr">
              <a:lnSpc>
                <a:spcPts val="2755"/>
              </a:lnSpc>
            </a:pPr>
            <a:r>
              <a:rPr lang="en-US" sz="2835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Amol Subhash Tayade                             BEIT63</a:t>
            </a:r>
          </a:p>
          <a:p>
            <a:pPr algn="ctr">
              <a:lnSpc>
                <a:spcPts val="2755"/>
              </a:lnSpc>
            </a:pPr>
            <a:r>
              <a:rPr lang="en-US" sz="2835" b="1">
                <a:solidFill>
                  <a:srgbClr val="00206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Tejas Balasaheb Naiknaware                   BEIT71</a:t>
            </a:r>
          </a:p>
          <a:p>
            <a:pPr algn="ctr">
              <a:lnSpc>
                <a:spcPts val="3061"/>
              </a:lnSpc>
            </a:pPr>
            <a:endParaRPr lang="en-US" sz="2835" b="1">
              <a:solidFill>
                <a:srgbClr val="00206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3061"/>
              </a:lnSpc>
            </a:pPr>
            <a:endParaRPr lang="en-US" sz="2835" b="1">
              <a:solidFill>
                <a:srgbClr val="00206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3061"/>
              </a:lnSpc>
            </a:pPr>
            <a:r>
              <a:rPr lang="en-US" sz="2835" b="1">
                <a:solidFill>
                  <a:srgbClr val="38572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</a:t>
            </a:r>
          </a:p>
          <a:p>
            <a:pPr algn="ctr">
              <a:lnSpc>
                <a:spcPts val="3061"/>
              </a:lnSpc>
            </a:pPr>
            <a:r>
              <a:rPr lang="en-US" sz="2835" b="1">
                <a:solidFill>
                  <a:srgbClr val="38572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Prof. Roshni Narkhede</a:t>
            </a:r>
          </a:p>
          <a:p>
            <a:pPr algn="ctr">
              <a:lnSpc>
                <a:spcPts val="3061"/>
              </a:lnSpc>
            </a:pPr>
            <a:endParaRPr lang="en-US" sz="2835" b="1">
              <a:solidFill>
                <a:srgbClr val="38572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3061"/>
              </a:lnSpc>
            </a:pPr>
            <a:r>
              <a:rPr lang="en-US" sz="2835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PCET’S &amp; NMVPM’S</a:t>
            </a:r>
          </a:p>
          <a:p>
            <a:pPr algn="ctr">
              <a:lnSpc>
                <a:spcPts val="3061"/>
              </a:lnSpc>
            </a:pPr>
            <a:r>
              <a:rPr lang="en-US" sz="2835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NUTAN MAHARASHTRA INSTT. OF ENGG. &amp; TECH. Pune</a:t>
            </a:r>
          </a:p>
          <a:p>
            <a:pPr algn="ctr">
              <a:lnSpc>
                <a:spcPts val="3061"/>
              </a:lnSpc>
            </a:pPr>
            <a:endParaRPr lang="en-US" sz="2835" b="1">
              <a:solidFill>
                <a:srgbClr val="FF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342002" y="960206"/>
            <a:ext cx="60125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342002" y="960206"/>
            <a:ext cx="595263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37115" y="2359895"/>
            <a:ext cx="13925483" cy="498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Content: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Project Presentation</a:t>
            </a: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Title,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Originality of Problem Statement, 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Depth of Understanding the Problem Statement, 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Concreate Literature Survey with identified gaps in all referred papers,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Design and Analysis of Algorithm / Model / Architecture / System,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List of required hardware, software, or other equipment for executing the project,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project Scope &amp; objective, 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System overview,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Architecture and initial phase of design (DFD),</a:t>
            </a:r>
          </a:p>
          <a:p>
            <a:pPr marL="1174432" lvl="2" indent="-391478" algn="just">
              <a:lnSpc>
                <a:spcPts val="3240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Expected outcome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342002" y="960206"/>
            <a:ext cx="603252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81757" y="2280456"/>
            <a:ext cx="13831643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Project Title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76747" y="3076956"/>
            <a:ext cx="1615419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 RAG-Based Multilingual AI Assistant for Government Scheme Discovery and Application Assistance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76747" y="4583954"/>
            <a:ext cx="8966502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Problem Domain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6747" y="5309140"/>
            <a:ext cx="1434492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RAG (Retrieval-Augmented Generation, Artificial Intelligence &amp; Machine Learning (AI/ML)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342002" y="960206"/>
            <a:ext cx="603252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81757" y="2280456"/>
            <a:ext cx="1383164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Originality of Problem Statement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5675" y="3037694"/>
            <a:ext cx="1615419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Citizens in India, especially in semi-urban and rural areas, struggle to access accurate, up-to-date information about government schemes, certificates, and eligibility criteria. Information is scattered across multiple government portals, often in complex bureaucratic language, primarily in English or formal Marathi/Hindi, making it inaccessible to citizens with limited literacy or digital skills. There is no unified, conversational system that helps citizens discover relevant schemes, check eligibility, and prepare applications with ease.</a:t>
            </a:r>
          </a:p>
        </p:txBody>
      </p:sp>
      <p:sp>
        <p:nvSpPr>
          <p:cNvPr id="21" name="Freeform 21"/>
          <p:cNvSpPr/>
          <p:nvPr/>
        </p:nvSpPr>
        <p:spPr>
          <a:xfrm>
            <a:off x="3523531" y="5409419"/>
            <a:ext cx="11240939" cy="3744638"/>
          </a:xfrm>
          <a:custGeom>
            <a:avLst/>
            <a:gdLst/>
            <a:ahLst/>
            <a:cxnLst/>
            <a:rect l="l" t="t" r="r" b="b"/>
            <a:pathLst>
              <a:path w="11240939" h="3744638">
                <a:moveTo>
                  <a:pt x="0" y="0"/>
                </a:moveTo>
                <a:lnTo>
                  <a:pt x="11240938" y="0"/>
                </a:lnTo>
                <a:lnTo>
                  <a:pt x="11240938" y="3744638"/>
                </a:lnTo>
                <a:lnTo>
                  <a:pt x="0" y="37446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342002" y="960206"/>
            <a:ext cx="597260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81757" y="2280456"/>
            <a:ext cx="1383164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Depth of Understanding the Problem Statement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5675" y="3037694"/>
            <a:ext cx="16154190" cy="493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Citizens often do not know which government schemes or certificates they are eligible for, and even when they do, the application process is confusing and paperwork-heavy. Existing government websites are static, text-heavy, and not conversational, offering no personalized guidance.</a:t>
            </a:r>
          </a:p>
          <a:p>
            <a:pPr algn="just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GovKnowledge Hub addresses this by providing a chatbot-based AI assistant, accessible via website and WhatsApp, that ingests government scheme data (eligibility rules, documents required, procedures) into a Retrieval-Augmented Generation (RAG) pipeline. Users can converse in natural language — including Marathi — and ask questions like "Which scholarships can I apply for?" or "Am I eligible for X certificate?" The assistant retrieves relevant scheme information from a vector database, grounds its answers with source citations to minimize hallucination, and additionally helps the user by auto-generating a pre-filled application draft/summary (name, details, required documents checklist) that the user can review and submit on the actual government portal.</a:t>
            </a:r>
          </a:p>
          <a:p>
            <a:pPr algn="just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2002" y="960206"/>
            <a:ext cx="597260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41657" y="1705632"/>
            <a:ext cx="13831643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Concreate Literature Survey with identified gaps in all referred papers,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DAF9359-C811-A432-9A5B-6A2E085B20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47319"/>
              </p:ext>
            </p:extLst>
          </p:nvPr>
        </p:nvGraphicFramePr>
        <p:xfrm>
          <a:off x="914400" y="2398870"/>
          <a:ext cx="15776819" cy="6707029"/>
        </p:xfrm>
        <a:graphic>
          <a:graphicData uri="http://schemas.openxmlformats.org/drawingml/2006/table">
            <a:tbl>
              <a:tblPr/>
              <a:tblGrid>
                <a:gridCol w="694179">
                  <a:extLst>
                    <a:ext uri="{9D8B030D-6E8A-4147-A177-3AD203B41FA5}">
                      <a16:colId xmlns:a16="http://schemas.microsoft.com/office/drawing/2014/main" val="2062433304"/>
                    </a:ext>
                  </a:extLst>
                </a:gridCol>
                <a:gridCol w="1009716">
                  <a:extLst>
                    <a:ext uri="{9D8B030D-6E8A-4147-A177-3AD203B41FA5}">
                      <a16:colId xmlns:a16="http://schemas.microsoft.com/office/drawing/2014/main" val="200436987"/>
                    </a:ext>
                  </a:extLst>
                </a:gridCol>
                <a:gridCol w="3786437">
                  <a:extLst>
                    <a:ext uri="{9D8B030D-6E8A-4147-A177-3AD203B41FA5}">
                      <a16:colId xmlns:a16="http://schemas.microsoft.com/office/drawing/2014/main" val="1753574702"/>
                    </a:ext>
                  </a:extLst>
                </a:gridCol>
                <a:gridCol w="3534007">
                  <a:extLst>
                    <a:ext uri="{9D8B030D-6E8A-4147-A177-3AD203B41FA5}">
                      <a16:colId xmlns:a16="http://schemas.microsoft.com/office/drawing/2014/main" val="2799307302"/>
                    </a:ext>
                  </a:extLst>
                </a:gridCol>
                <a:gridCol w="3407793">
                  <a:extLst>
                    <a:ext uri="{9D8B030D-6E8A-4147-A177-3AD203B41FA5}">
                      <a16:colId xmlns:a16="http://schemas.microsoft.com/office/drawing/2014/main" val="3386173399"/>
                    </a:ext>
                  </a:extLst>
                </a:gridCol>
                <a:gridCol w="2524292">
                  <a:extLst>
                    <a:ext uri="{9D8B030D-6E8A-4147-A177-3AD203B41FA5}">
                      <a16:colId xmlns:a16="http://schemas.microsoft.com/office/drawing/2014/main" val="2831464665"/>
                    </a:ext>
                  </a:extLst>
                </a:gridCol>
                <a:gridCol w="820395">
                  <a:extLst>
                    <a:ext uri="{9D8B030D-6E8A-4147-A177-3AD203B41FA5}">
                      <a16:colId xmlns:a16="http://schemas.microsoft.com/office/drawing/2014/main" val="203364395"/>
                    </a:ext>
                  </a:extLst>
                </a:gridCol>
              </a:tblGrid>
              <a:tr h="5076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/ Study (Authors)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7034187"/>
                  </a:ext>
                </a:extLst>
              </a:tr>
              <a:tr h="76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Schemes Recommendation (Sheriff et al.)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improves access to government scheme information.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FAISS, LangChain, GenAI, React, Node.js, FastAPI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schemes; English/Tamil only.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u="sng" dirty="0">
                          <a:solidFill>
                            <a:srgbClr val="1F5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5" tooltip="https://www.ijfmr.com/papers/2026/3/79624.pdf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508540"/>
                  </a:ext>
                </a:extLst>
              </a:tr>
              <a:tr h="76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AI-Driven Chatbot for Govt Scheme Accessibility (Vaishnavi et al.)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RAG achieves 90.4% retrieval accuracy.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BM25, Dense Embeddings, Reranking, Local LLM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updated scheme database.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u="sng" dirty="0">
                          <a:solidFill>
                            <a:srgbClr val="1F5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6" tooltip="https://ijirt.org/publishedpaper/IJIRT201405_PAPER.pdf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41970"/>
                  </a:ext>
                </a:extLst>
              </a:tr>
              <a:tr h="10454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Groundedness in Government Document Chatbots (Rumamby et al.)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weaknesses in existing RAG evaluation metrics.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Systematic Literature Review, PRISMA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metric needs validation.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u="sng" dirty="0">
                          <a:solidFill>
                            <a:srgbClr val="1F5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7" tooltip="https://doi.org/10.70062/slrj.v2i1.27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112688"/>
                  </a:ext>
                </a:extLst>
              </a:tr>
              <a:tr h="76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AgriGov: Structured Multilingual Dataset (Bilal &amp; Gopakumar)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 multilingual agricultural scheme data.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Scraping, Machine Translation, Human Review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only on agricultural schemes.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u="sng" dirty="0">
                          <a:solidFill>
                            <a:srgbClr val="1F5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8" tooltip="https://arxiv.org/abs/2606.0827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76549"/>
                  </a:ext>
                </a:extLst>
              </a:tr>
              <a:tr h="7657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 Schemes Recommendation API (Reddy et al.)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Multilingual RAG simplifies welfare scheme discovery.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FAISS, LangChain, FastAPI, Eligibility Filtering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schemes and languages.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u="sng" dirty="0">
                          <a:solidFill>
                            <a:srgbClr val="1F5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9" tooltip="https://doi.org/10.1109/ICIMIA67127.2025.1120053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144816"/>
                  </a:ext>
                </a:extLst>
              </a:tr>
              <a:tr h="10454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of RAG for Conversational Assistants (Vaidheeswaran &amp; Nathan)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improves answer quality and reduces hallucinations.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Comparative Experiments, Hybrid Retrieval, ASR/TTS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to the studied welfare-scheme domain.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u="sng" dirty="0">
                          <a:solidFill>
                            <a:srgbClr val="1F5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0" tooltip="https://doi.org/10.30574/ijsra.2024.13.1.174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833783"/>
                  </a:ext>
                </a:extLst>
              </a:tr>
              <a:tr h="104541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887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Two-Phase RAG Chatbot for Italian Funding (Boccato et al.)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RAG improves information retrieval.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Two-Phase RAG, Summary-Based Retrieval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Domain-specific; moderate user satisfaction.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u="sng" dirty="0">
                          <a:solidFill>
                            <a:srgbClr val="1F5F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  <a:hlinkClick r:id="rId11" tooltip="https://www.preprints.org/manuscript/202406.199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Open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094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257846" y="3600517"/>
            <a:ext cx="12685957" cy="329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Document Retrieval Algorithm: Retrieves relevant government documents based on user queries using vector similarity search.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Ranking Algorithm: Ranks retrieved document chunks according to their relevance to the user's question.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Eligibility Checking Algorithm: Applies rule-based conditions to check users' eligibility for government schemes.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Document Matching Algorithm: Matches user requirements with scheme eligibility criteria and required documents.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4368106" y="7148735"/>
            <a:ext cx="8569917" cy="2152380"/>
          </a:xfrm>
          <a:custGeom>
            <a:avLst/>
            <a:gdLst/>
            <a:ahLst/>
            <a:cxnLst/>
            <a:rect l="l" t="t" r="r" b="b"/>
            <a:pathLst>
              <a:path w="9283975" h="2636907">
                <a:moveTo>
                  <a:pt x="0" y="0"/>
                </a:moveTo>
                <a:lnTo>
                  <a:pt x="9283975" y="0"/>
                </a:lnTo>
                <a:lnTo>
                  <a:pt x="9283975" y="2636907"/>
                </a:lnTo>
                <a:lnTo>
                  <a:pt x="0" y="2636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739" b="-1739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Design and Analysis of Algorithms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5403" y="2694670"/>
            <a:ext cx="3164086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Algorithms Used: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Algorithm Analysis: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1757" y="2881951"/>
            <a:ext cx="12685957" cy="288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Time Complexity: Depends on the retrieval method, dataset size, and number of eligibility rules.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Space Complexity: Depends on the number of stored document chunks, embeddings, and indexing structures.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Optimization: Efficient indexing and retrieval reduce search time and improve response efficiency.</a:t>
            </a:r>
          </a:p>
          <a:p>
            <a:pPr algn="just">
              <a:lnSpc>
                <a:spcPts val="3240"/>
              </a:lnSpc>
            </a:pPr>
            <a:endParaRPr lang="en-US" sz="27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90322" y="5486200"/>
            <a:ext cx="8966502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022" lvl="1" indent="-280511" algn="l">
              <a:lnSpc>
                <a:spcPts val="3719"/>
              </a:lnSpc>
              <a:buFont typeface="Arial"/>
              <a:buChar char="•"/>
            </a:pPr>
            <a:r>
              <a:rPr lang="en-US" sz="3099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 Design of Model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1757" y="6372025"/>
            <a:ext cx="12685957" cy="288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Input: User query in Marathi or English.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Embedding Model: Converts user queries and government documents into vector representations.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RAG Model: Retrieves relevant document context and generates answers using an LLM.</a:t>
            </a:r>
          </a:p>
          <a:p>
            <a:pPr marL="488632" lvl="1" indent="-244316" algn="just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Output: Provides answers with source citations, eligibility guidance, and a required document checklist.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4560440" y="2785910"/>
            <a:ext cx="9167120" cy="6472390"/>
          </a:xfrm>
          <a:custGeom>
            <a:avLst/>
            <a:gdLst/>
            <a:ahLst/>
            <a:cxnLst/>
            <a:rect l="l" t="t" r="r" b="b"/>
            <a:pathLst>
              <a:path w="9167120" h="6472390">
                <a:moveTo>
                  <a:pt x="0" y="0"/>
                </a:moveTo>
                <a:lnTo>
                  <a:pt x="9167120" y="0"/>
                </a:lnTo>
                <a:lnTo>
                  <a:pt x="9167120" y="6472390"/>
                </a:lnTo>
                <a:lnTo>
                  <a:pt x="0" y="6472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Architecture: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4042391" y="2685145"/>
            <a:ext cx="10203217" cy="6802145"/>
          </a:xfrm>
          <a:custGeom>
            <a:avLst/>
            <a:gdLst/>
            <a:ahLst/>
            <a:cxnLst/>
            <a:rect l="l" t="t" r="r" b="b"/>
            <a:pathLst>
              <a:path w="10203217" h="6802145">
                <a:moveTo>
                  <a:pt x="0" y="0"/>
                </a:moveTo>
                <a:lnTo>
                  <a:pt x="10203218" y="0"/>
                </a:lnTo>
                <a:lnTo>
                  <a:pt x="10203218" y="6802145"/>
                </a:lnTo>
                <a:lnTo>
                  <a:pt x="0" y="68021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List of Required Hardware, Software, and Other Equipment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5939" y="2666095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1. Hardware Requirements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45675" y="3247120"/>
            <a:ext cx="8097445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 Intel Core i5 / AMD Ryzen 5 or equivalent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RAM: Minimum 8 GB (16 GB recommended)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 Minimum 256 GB SSD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Connection: Stable broadband connection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Display: Standard monitor or laptop display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5938" y="5409294"/>
            <a:ext cx="5432061" cy="474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19"/>
              </a:lnSpc>
              <a:spcBef>
                <a:spcPct val="0"/>
              </a:spcBef>
            </a:pPr>
            <a:r>
              <a:rPr lang="en-US" sz="3099" b="1" u="sng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Software Requirements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45675" y="5949820"/>
            <a:ext cx="8233917" cy="3584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Operating System: Windows 10/11 or Linux</a:t>
            </a: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React.js / Next.js, HTML, CSS, JavaScript</a:t>
            </a: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Python and </a:t>
            </a:r>
            <a:r>
              <a:rPr lang="en-US" sz="235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  <a:endParaRPr lang="en-US" sz="23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/ LLM: OpenAI API or a compatible LLM</a:t>
            </a: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 Framework: </a:t>
            </a:r>
            <a:r>
              <a:rPr lang="en-US" sz="235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LangChain</a:t>
            </a:r>
            <a:endParaRPr lang="en-US" sz="23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Vector Database: FAISS or </a:t>
            </a:r>
            <a:r>
              <a:rPr lang="en-US" sz="235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ChromaDB</a:t>
            </a:r>
            <a:endParaRPr lang="en-US" sz="235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Processing: </a:t>
            </a:r>
            <a:r>
              <a:rPr lang="en-US" sz="235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PyMuPDF</a:t>
            </a: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Tesseract OCR</a:t>
            </a: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Tools: Visual Studio Code, Git, GitHub, Postman</a:t>
            </a: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Database: SQLite or PostgreSQL, if required</a:t>
            </a:r>
          </a:p>
          <a:p>
            <a:pPr marL="507484" lvl="1" indent="-253742" algn="just">
              <a:lnSpc>
                <a:spcPts val="2820"/>
              </a:lnSpc>
              <a:spcBef>
                <a:spcPct val="0"/>
              </a:spcBef>
              <a:buFont typeface="Arial"/>
              <a:buChar char="•"/>
            </a:pPr>
            <a:r>
              <a:rPr lang="en-US" sz="235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Browser: Google Chrome or Microsoft Edge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96640" y="2666095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3. Other Requirements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16376" y="3247120"/>
            <a:ext cx="7120156" cy="411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government PDFs, scheme guidelines, GRs, and circulars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key and internet access for the selected LLM service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Government document datasets for testing and validation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WhatsApp Business API access, if WhatsApp integration is implemented</a:t>
            </a:r>
          </a:p>
          <a:p>
            <a:pPr marL="582930" lvl="1" indent="-291465" algn="l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hosting or a deployment platform, if online deployment is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Project Scope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5620" y="2989945"/>
            <a:ext cx="16618401" cy="3705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AI-powered platform for accessing government schemes, rules, GRs, and official documents.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 Retrieval-Augmented Generation (RAG) system to provide answers based on relevant government sources.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multilingual interaction in Marathi and English.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source citations to help users verify the information.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 citizens in understanding scheme eligibility criteria and required documents.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document checklists and application guidance.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user-friendly web interface with optional WhatsApp and voice integration.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retrieval accuracy, answer relevance, citation correctness, and response reliability.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Project Objectives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3711398" y="2685145"/>
            <a:ext cx="10092477" cy="6842474"/>
          </a:xfrm>
          <a:custGeom>
            <a:avLst/>
            <a:gdLst/>
            <a:ahLst/>
            <a:cxnLst/>
            <a:rect l="l" t="t" r="r" b="b"/>
            <a:pathLst>
              <a:path w="10092477" h="6842474">
                <a:moveTo>
                  <a:pt x="0" y="0"/>
                </a:moveTo>
                <a:lnTo>
                  <a:pt x="10092477" y="0"/>
                </a:lnTo>
                <a:lnTo>
                  <a:pt x="10092477" y="6842474"/>
                </a:lnTo>
                <a:lnTo>
                  <a:pt x="0" y="6842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96"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Overview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5675" y="2815566"/>
            <a:ext cx="1600200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GovKnowledge Hub is an AI-powered platform designed to simplify access to government schemes, rules, GRs, and official documents. It uses Retrieval-Augmented Generation (RAG) to retrieve relevant information from official government sources and generate context-based answers using a Large Language Model (LLM).</a:t>
            </a:r>
          </a:p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supports Marathi and English queries, provides source citations for verification, and assists citizens in understanding eligibility criteria, required documents, and application procedures.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1757" y="5139666"/>
            <a:ext cx="352925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Workflow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78297" y="5863566"/>
            <a:ext cx="16336756" cy="329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Input: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Citizens submit queries in Marathi or English through the web interface.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Query Processing: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processes the query and prepares it for retrieval.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Knowledge Retrieval: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Relevant information is retrieved from the government document knowledge base using embeddings and vector similarity search.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Answer Generation: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LLM generates a response based on the retrieved context.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Eligibility Assistance: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helps users understand scheme eligibility and document requirements.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Response Delivery: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presents the answer with source citations, eligibility guidance, and a document checklist.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System Overview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45675" y="2815566"/>
            <a:ext cx="16002000" cy="206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GovKnowledge Hub is an AI-powered platform designed to simplify access to government schemes, rules, GRs, and official documents. It uses Retrieval-Augmented Generation (RAG) to retrieve relevant information from official government sources and generate context-based answers using a Large Language Model (LLM).</a:t>
            </a:r>
          </a:p>
          <a:p>
            <a:pPr algn="just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supports Marathi and English queries, provides source citations for verification, and assists citizens in understanding eligibility criteria, required documents, and application procedures.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1757" y="5139666"/>
            <a:ext cx="352925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Workflow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78297" y="5863566"/>
            <a:ext cx="16336756" cy="3295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Input: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Citizens submit queries in Marathi or English through the web interface.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Query Processing: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processes the query and prepares it for retrieval.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Knowledge Retrieval: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Relevant information is retrieved from the government document knowledge base using embeddings and vector similarity search.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Answer Generation: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LLM generates a response based on the retrieved context.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Eligibility Assistance: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helps users understand scheme eligibility and document requirements.</a:t>
            </a:r>
          </a:p>
          <a:p>
            <a:pPr marL="582930" lvl="1" indent="-291465" algn="just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Response Delivery:</a:t>
            </a: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system presents the answer with source citations, eligibility guidance, and a document checklist.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3208250" y="3587223"/>
            <a:ext cx="12289855" cy="5283762"/>
          </a:xfrm>
          <a:custGeom>
            <a:avLst/>
            <a:gdLst/>
            <a:ahLst/>
            <a:cxnLst/>
            <a:rect l="l" t="t" r="r" b="b"/>
            <a:pathLst>
              <a:path w="12289855" h="5283762">
                <a:moveTo>
                  <a:pt x="0" y="0"/>
                </a:moveTo>
                <a:lnTo>
                  <a:pt x="12289855" y="0"/>
                </a:lnTo>
                <a:lnTo>
                  <a:pt x="12289855" y="5283762"/>
                </a:lnTo>
                <a:lnTo>
                  <a:pt x="0" y="52837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Initial Phase of Design — Data Flow Diagram (DFD)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1966" y="2771693"/>
            <a:ext cx="609588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DFD Level 0 — Context Diagram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3" name="Freeform 13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19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5337047" y="3238418"/>
            <a:ext cx="7105103" cy="6296107"/>
          </a:xfrm>
          <a:custGeom>
            <a:avLst/>
            <a:gdLst/>
            <a:ahLst/>
            <a:cxnLst/>
            <a:rect l="l" t="t" r="r" b="b"/>
            <a:pathLst>
              <a:path w="7105103" h="6296107">
                <a:moveTo>
                  <a:pt x="0" y="0"/>
                </a:moveTo>
                <a:lnTo>
                  <a:pt x="7105103" y="0"/>
                </a:lnTo>
                <a:lnTo>
                  <a:pt x="7105103" y="6296107"/>
                </a:lnTo>
                <a:lnTo>
                  <a:pt x="0" y="6296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2002" y="960206"/>
            <a:ext cx="609245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81757" y="2085070"/>
            <a:ext cx="14879784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42925" lvl="1" indent="-271462" algn="l">
              <a:lnSpc>
                <a:spcPts val="3600"/>
              </a:lnSpc>
              <a:buFont typeface="Arial"/>
              <a:buChar char="•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Initial Phase of Design — Data Flow Diagram (DFD)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11966" y="2771693"/>
            <a:ext cx="640282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35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DFD Level 1 — Detailed Data Flow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342002" y="960206"/>
            <a:ext cx="639207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20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35871" y="2233241"/>
            <a:ext cx="8966502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28725" lvl="2" indent="-409575" algn="l">
              <a:lnSpc>
                <a:spcPts val="3600"/>
              </a:lnSpc>
              <a:buFont typeface="Arial"/>
              <a:buChar char="⚬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Expected outcome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067050"/>
            <a:ext cx="16407832" cy="422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714" lvl="1" indent="-298857" algn="just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Government Information: A unified platform to access government schemes, GRs, rules, guidelines, and official documents.</a:t>
            </a:r>
          </a:p>
          <a:p>
            <a:pPr marL="597714" lvl="1" indent="-298857" algn="just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AI Responses: RAG-based answers generated using relevant government document context.</a:t>
            </a:r>
          </a:p>
          <a:p>
            <a:pPr marL="597714" lvl="1" indent="-298857" algn="just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Accessibility: Support for queries in Marathi and English.</a:t>
            </a:r>
          </a:p>
          <a:p>
            <a:pPr marL="597714" lvl="1" indent="-298857" algn="just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Source-Based Answers: Citations that help users verify information against official documents.</a:t>
            </a:r>
          </a:p>
          <a:p>
            <a:pPr marL="597714" lvl="1" indent="-298857" algn="just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Eligibility Assistance: Simplified guidance on government scheme eligibility criteria.</a:t>
            </a:r>
          </a:p>
          <a:p>
            <a:pPr marL="597714" lvl="1" indent="-298857" algn="just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 Checklist Generation: Identification of required documents for schemes and government services.</a:t>
            </a:r>
          </a:p>
          <a:p>
            <a:pPr marL="597714" lvl="1" indent="-298857" algn="just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User Experience: Easy access to government information through a user-friendly web interface.</a:t>
            </a:r>
          </a:p>
          <a:p>
            <a:pPr marL="597714" lvl="1" indent="-298857" algn="just">
              <a:lnSpc>
                <a:spcPts val="3322"/>
              </a:lnSpc>
              <a:spcBef>
                <a:spcPct val="0"/>
              </a:spcBef>
              <a:buFont typeface="Arial"/>
              <a:buChar char="•"/>
            </a:pPr>
            <a:r>
              <a:rPr lang="en-US" sz="276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Information Retrieval: Evaluation of retrieval accuracy, answer relevance, citation correctness, and response groundedness.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342002" y="960206"/>
            <a:ext cx="639207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21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35871" y="2233241"/>
            <a:ext cx="8966502" cy="527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28725" lvl="2" indent="-409575" algn="l">
              <a:lnSpc>
                <a:spcPts val="3600"/>
              </a:lnSpc>
              <a:buFont typeface="Arial"/>
              <a:buChar char="⚬"/>
            </a:pPr>
            <a:r>
              <a:rPr lang="en-US" sz="3000" b="1" u="sng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Expected outcome</a:t>
            </a:r>
          </a:p>
        </p:txBody>
      </p:sp>
      <p:sp>
        <p:nvSpPr>
          <p:cNvPr id="20" name="Freeform 20"/>
          <p:cNvSpPr/>
          <p:nvPr/>
        </p:nvSpPr>
        <p:spPr>
          <a:xfrm>
            <a:off x="3037302" y="2761012"/>
            <a:ext cx="10149911" cy="6766608"/>
          </a:xfrm>
          <a:custGeom>
            <a:avLst/>
            <a:gdLst/>
            <a:ahLst/>
            <a:cxnLst/>
            <a:rect l="l" t="t" r="r" b="b"/>
            <a:pathLst>
              <a:path w="10149911" h="6766608">
                <a:moveTo>
                  <a:pt x="0" y="0"/>
                </a:moveTo>
                <a:lnTo>
                  <a:pt x="10149911" y="0"/>
                </a:lnTo>
                <a:lnTo>
                  <a:pt x="10149911" y="6766607"/>
                </a:lnTo>
                <a:lnTo>
                  <a:pt x="0" y="67666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25" y="1513227"/>
            <a:ext cx="18307050" cy="87630"/>
            <a:chOff x="0" y="0"/>
            <a:chExt cx="24409400" cy="116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9400" cy="116840"/>
            </a:xfrm>
            <a:custGeom>
              <a:avLst/>
              <a:gdLst/>
              <a:ahLst/>
              <a:cxnLst/>
              <a:rect l="l" t="t" r="r" b="b"/>
              <a:pathLst>
                <a:path w="24409400" h="116840">
                  <a:moveTo>
                    <a:pt x="0" y="19431"/>
                  </a:moveTo>
                  <a:cubicBezTo>
                    <a:pt x="0" y="8763"/>
                    <a:pt x="8763" y="0"/>
                    <a:pt x="19431" y="0"/>
                  </a:cubicBezTo>
                  <a:lnTo>
                    <a:pt x="24389969" y="0"/>
                  </a:lnTo>
                  <a:cubicBezTo>
                    <a:pt x="24400763" y="0"/>
                    <a:pt x="24409400" y="8763"/>
                    <a:pt x="24409400" y="19431"/>
                  </a:cubicBezTo>
                  <a:lnTo>
                    <a:pt x="24409400" y="97409"/>
                  </a:lnTo>
                  <a:cubicBezTo>
                    <a:pt x="24409400" y="108204"/>
                    <a:pt x="24400636" y="116840"/>
                    <a:pt x="24389969" y="116840"/>
                  </a:cubicBezTo>
                  <a:lnTo>
                    <a:pt x="19431" y="116840"/>
                  </a:lnTo>
                  <a:cubicBezTo>
                    <a:pt x="8763" y="116840"/>
                    <a:pt x="0" y="108077"/>
                    <a:pt x="0" y="9740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0000">
                    <a:alpha val="100000"/>
                  </a:srgbClr>
                </a:gs>
                <a:gs pos="27000">
                  <a:srgbClr val="E77179">
                    <a:alpha val="100000"/>
                  </a:srgbClr>
                </a:gs>
                <a:gs pos="90000">
                  <a:srgbClr val="0066FF">
                    <a:alpha val="10000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 w="19050" cap="sq">
              <a:solidFill>
                <a:srgbClr val="41719C"/>
              </a:solidFill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3" y="9527619"/>
            <a:ext cx="15854039" cy="759381"/>
            <a:chOff x="0" y="0"/>
            <a:chExt cx="21138718" cy="101250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38769" cy="1012571"/>
            </a:xfrm>
            <a:custGeom>
              <a:avLst/>
              <a:gdLst/>
              <a:ahLst/>
              <a:cxnLst/>
              <a:rect l="l" t="t" r="r" b="b"/>
              <a:pathLst>
                <a:path w="21138769" h="1012571">
                  <a:moveTo>
                    <a:pt x="21138769" y="1012571"/>
                  </a:moveTo>
                  <a:lnTo>
                    <a:pt x="19879818" y="0"/>
                  </a:lnTo>
                  <a:lnTo>
                    <a:pt x="0" y="52070"/>
                  </a:lnTo>
                  <a:lnTo>
                    <a:pt x="17272" y="1012571"/>
                  </a:lnTo>
                  <a:lnTo>
                    <a:pt x="21138769" y="1012571"/>
                  </a:lnTo>
                  <a:close/>
                </a:path>
              </a:pathLst>
            </a:custGeom>
            <a:gradFill rotWithShape="1">
              <a:gsLst>
                <a:gs pos="0">
                  <a:srgbClr val="6F0000">
                    <a:alpha val="100000"/>
                  </a:srgbClr>
                </a:gs>
                <a:gs pos="50000">
                  <a:srgbClr val="A10000">
                    <a:alpha val="100000"/>
                  </a:srgbClr>
                </a:gs>
                <a:gs pos="100000">
                  <a:srgbClr val="C00000">
                    <a:alpha val="100000"/>
                  </a:srgbClr>
                </a:gs>
              </a:gsLst>
              <a:lin ang="5564537"/>
            </a:gradFill>
          </p:spPr>
        </p:sp>
      </p:grpSp>
      <p:sp>
        <p:nvSpPr>
          <p:cNvPr id="6" name="TextBox 6"/>
          <p:cNvSpPr txBox="1"/>
          <p:nvPr/>
        </p:nvSpPr>
        <p:spPr>
          <a:xfrm>
            <a:off x="370980" y="9656978"/>
            <a:ext cx="10136305" cy="481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SPPU Project Work Stage – I, A.Y. 2026-27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41217" y="49435"/>
            <a:ext cx="8305171" cy="47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Nutan Maharashtra Vidya Prasarak Mandal's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86342" y="516207"/>
            <a:ext cx="13335010" cy="435683"/>
            <a:chOff x="0" y="0"/>
            <a:chExt cx="17780013" cy="5809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780008" cy="580908"/>
            </a:xfrm>
            <a:custGeom>
              <a:avLst/>
              <a:gdLst/>
              <a:ahLst/>
              <a:cxnLst/>
              <a:rect l="l" t="t" r="r" b="b"/>
              <a:pathLst>
                <a:path w="17780008" h="580908">
                  <a:moveTo>
                    <a:pt x="0" y="0"/>
                  </a:moveTo>
                  <a:lnTo>
                    <a:pt x="17780008" y="0"/>
                  </a:lnTo>
                  <a:lnTo>
                    <a:pt x="17780008" y="580908"/>
                  </a:lnTo>
                  <a:lnTo>
                    <a:pt x="0" y="58090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46383" b="-54638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7780013" cy="5904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b="1">
                  <a:solidFill>
                    <a:srgbClr val="00206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NUTAN MAHARASHTRA INSTITUTE OF ENGINEERING &amp; TECHNOLOGY, PUNE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434969" y="113071"/>
            <a:ext cx="1310707" cy="1283532"/>
            <a:chOff x="0" y="0"/>
            <a:chExt cx="1747609" cy="17113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7647" cy="1711325"/>
            </a:xfrm>
            <a:custGeom>
              <a:avLst/>
              <a:gdLst/>
              <a:ahLst/>
              <a:cxnLst/>
              <a:rect l="l" t="t" r="r" b="b"/>
              <a:pathLst>
                <a:path w="1747647" h="1711325">
                  <a:moveTo>
                    <a:pt x="0" y="0"/>
                  </a:moveTo>
                  <a:lnTo>
                    <a:pt x="1747647" y="0"/>
                  </a:lnTo>
                  <a:lnTo>
                    <a:pt x="1747647" y="1711325"/>
                  </a:lnTo>
                  <a:lnTo>
                    <a:pt x="0" y="17113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01042" b="-2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691219" y="102718"/>
            <a:ext cx="1490624" cy="1285199"/>
            <a:chOff x="0" y="0"/>
            <a:chExt cx="1987499" cy="1713598"/>
          </a:xfrm>
        </p:grpSpPr>
        <p:sp>
          <p:nvSpPr>
            <p:cNvPr id="14" name="Freeform 14" descr="PCET Trust Logo"/>
            <p:cNvSpPr/>
            <p:nvPr/>
          </p:nvSpPr>
          <p:spPr>
            <a:xfrm>
              <a:off x="0" y="0"/>
              <a:ext cx="1987550" cy="1713611"/>
            </a:xfrm>
            <a:custGeom>
              <a:avLst/>
              <a:gdLst/>
              <a:ahLst/>
              <a:cxnLst/>
              <a:rect l="l" t="t" r="r" b="b"/>
              <a:pathLst>
                <a:path w="1987550" h="1713611">
                  <a:moveTo>
                    <a:pt x="0" y="0"/>
                  </a:moveTo>
                  <a:lnTo>
                    <a:pt x="1987550" y="0"/>
                  </a:lnTo>
                  <a:lnTo>
                    <a:pt x="1987550" y="1713611"/>
                  </a:lnTo>
                  <a:lnTo>
                    <a:pt x="0" y="1713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690" r="2" b="-2013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6342002" y="960206"/>
            <a:ext cx="639207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 b="1">
                <a:solidFill>
                  <a:srgbClr val="FF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Department of Information Technology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915900" y="9534525"/>
            <a:ext cx="4114800" cy="547688"/>
            <a:chOff x="0" y="0"/>
            <a:chExt cx="5486400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86400" cy="730250"/>
            </a:xfrm>
            <a:custGeom>
              <a:avLst/>
              <a:gdLst/>
              <a:ahLst/>
              <a:cxnLst/>
              <a:rect l="l" t="t" r="r" b="b"/>
              <a:pathLst>
                <a:path w="5486400" h="73025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91" b="-9639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177154" y="1794531"/>
            <a:ext cx="11933693" cy="283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16"/>
              </a:lnSpc>
              <a:spcBef>
                <a:spcPct val="0"/>
              </a:spcBef>
            </a:pPr>
            <a:r>
              <a:rPr lang="en-US" sz="15654" b="1" spc="-970">
                <a:gradFill>
                  <a:gsLst>
                    <a:gs pos="0">
                      <a:srgbClr val="FF0000">
                        <a:alpha val="100000"/>
                      </a:srgbClr>
                    </a:gs>
                    <a:gs pos="27000">
                      <a:srgbClr val="E77179">
                        <a:alpha val="100000"/>
                      </a:srgbClr>
                    </a:gs>
                    <a:gs pos="90000">
                      <a:srgbClr val="0066FF">
                        <a:alpha val="100000"/>
                      </a:srgb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27941" y="4416331"/>
            <a:ext cx="9432117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0"/>
              </a:lnSpc>
            </a:pPr>
            <a:r>
              <a:rPr lang="en-US" sz="2000" spc="138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C89116">
                        <a:alpha val="100000"/>
                      </a:srgbClr>
                    </a:gs>
                  </a:gsLst>
                  <a:lin ang="0"/>
                </a:gra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2348</Words>
  <Application>Microsoft Office PowerPoint</Application>
  <PresentationFormat>Custom</PresentationFormat>
  <Paragraphs>291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Cambria Bold</vt:lpstr>
      <vt:lpstr>Calibri (MS)</vt:lpstr>
      <vt:lpstr>Poppins Bold</vt:lpstr>
      <vt:lpstr>Arial</vt:lpstr>
      <vt:lpstr>Trebuchet MS Bold</vt:lpstr>
      <vt:lpstr>Times New Roman Bold</vt:lpstr>
      <vt:lpstr>Times New Roman</vt:lpstr>
      <vt:lpstr>Calibri</vt:lpstr>
      <vt:lpstr>Poppins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 Project stage-1 ppt template A.Y. 2025-26_.pptx</dc:title>
  <dc:creator>Sandesh</dc:creator>
  <cp:lastModifiedBy>Sandesh Shingankar</cp:lastModifiedBy>
  <cp:revision>3</cp:revision>
  <dcterms:created xsi:type="dcterms:W3CDTF">2006-08-16T00:00:00Z</dcterms:created>
  <dcterms:modified xsi:type="dcterms:W3CDTF">2026-10-10T08:25:21Z</dcterms:modified>
  <dc:identifier>DAHXgGLo79E</dc:identifier>
</cp:coreProperties>
</file>